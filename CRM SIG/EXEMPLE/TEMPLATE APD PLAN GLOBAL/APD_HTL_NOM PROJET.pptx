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10"/>
  </p:notesMasterIdLst>
  <p:handoutMasterIdLst>
    <p:handoutMasterId r:id="rId11"/>
  </p:handoutMasterIdLst>
  <p:sldIdLst>
    <p:sldId id="260" r:id="rId6"/>
    <p:sldId id="261" r:id="rId7"/>
    <p:sldId id="264" r:id="rId8"/>
    <p:sldId id="263" r:id="rId9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Morizot" initials="TM" lastIdx="27" clrIdx="0">
    <p:extLst>
      <p:ext uri="{19B8F6BF-5375-455C-9EA6-DF929625EA0E}">
        <p15:presenceInfo xmlns:p15="http://schemas.microsoft.com/office/powerpoint/2012/main" userId="S-1-5-21-1502940519-1721977831-790556187-258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306BD-D9D0-460C-94F1-0FE89CB49183}" v="1" dt="2024-11-26T10:08:53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256" autoAdjust="0"/>
  </p:normalViewPr>
  <p:slideViewPr>
    <p:cSldViewPr snapToGrid="0">
      <p:cViewPr varScale="1">
        <p:scale>
          <a:sx n="70" d="100"/>
          <a:sy n="70" d="100"/>
        </p:scale>
        <p:origin x="3114" y="72"/>
      </p:cViewPr>
      <p:guideLst>
        <p:guide orient="horz" pos="3368"/>
        <p:guide pos="23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EA80377-16D1-4FF2-8469-F110C38845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E2C0A3-316F-4657-8C33-B29A859A10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4F886-089A-404A-8028-B7C99CB756EC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5805CE-CCE0-4ECC-9E55-9A4C787258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A4E4C92-9A14-4460-87BE-7A7EF2639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0C5C-0FC6-4260-9B8A-EEBE616BE2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248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67AEF-83AA-4AB8-BDEE-F2A5063409C9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4213B-4BE4-479A-BDCB-D7D91084F8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33226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670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FBDF3-670C-4009-BD86-1F6682E2B1C7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23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38EE-CC85-4358-9228-BC65C2949E02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67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8889E-04BE-420A-B1EA-28BDFDAC5641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52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F3641-0C9F-4166-A1E8-0A5F54F2FBA6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34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CDF82-3512-45A3-8C27-C1C96B867DF7}" type="datetime1">
              <a:rPr lang="fr-FR" smtClean="0"/>
              <a:t>29/06/2026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900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6BE2-07D2-483F-A63C-7C62C7F816A5}" type="datetime1">
              <a:rPr lang="fr-FR" smtClean="0"/>
              <a:t>29/06/2026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73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2AEE-197A-4CF9-9634-7A188F0310E2}" type="datetime1">
              <a:rPr lang="fr-FR" smtClean="0"/>
              <a:t>29/06/2026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23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37EA-EBC5-4548-A7EA-31DFE8E47E62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45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C25E4-D15F-448E-9983-D5F526FD8CB0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5129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9368-9A92-40D2-B702-F725946DAFCE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43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7F24-2B15-42B0-92AB-30EBD6222179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955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83FF4-492B-4CBD-9F74-3BCAB70A2617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6323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31D40-0D6B-4FC0-8362-224FC8961938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295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A2B95-578F-4800-A5BE-82B871BDD077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879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72E7-BBB6-4945-A1C0-4B71F29AA1E4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486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B43B-0ED8-47C2-96E1-B1E6ECE9C31A}" type="datetime1">
              <a:rPr lang="fr-FR" smtClean="0"/>
              <a:t>29/06/2026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467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4A69-0C0E-41C0-AAA5-AB415D1D1C26}" type="datetime1">
              <a:rPr lang="fr-FR" smtClean="0"/>
              <a:t>29/06/2026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211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9665D-23AB-4309-AD02-33E69F92E58A}" type="datetime1">
              <a:rPr lang="fr-FR" smtClean="0"/>
              <a:t>29/06/2026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1469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C65E3-E15D-4218-8B10-3FB7E2D844E9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693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D2AD6-12C4-4B9C-8C57-2A6EAA305347}" type="datetime1">
              <a:rPr lang="fr-FR" smtClean="0"/>
              <a:t>29/06/2026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280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3AD29-BE12-4EC9-A880-3B9AF98F2D6A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11422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5ACA-C134-4FD0-9572-57F21AF699B1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63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F8CE8-D928-45DD-9E4E-D68B65AB76F6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A1CCE-92A4-45F3-B36F-9F02392327DB}" type="datetime1">
              <a:rPr lang="fr-FR" smtClean="0"/>
              <a:t>29/06/2026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Page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2E42-00B8-46E6-93DF-CCBFACE690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23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automatique 2">
            <a:extLst>
              <a:ext uri="{FF2B5EF4-FFF2-40B4-BE49-F238E27FC236}">
                <a16:creationId xmlns:a16="http://schemas.microsoft.com/office/drawing/2014/main" id="{C431B085-C02C-4204-86E2-7B2E9BAA6C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63308" y="-431219"/>
            <a:ext cx="417830" cy="3262630"/>
          </a:xfrm>
          <a:prstGeom prst="roundRect">
            <a:avLst>
              <a:gd name="adj" fmla="val 13032"/>
            </a:avLst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/>
            <a:r>
              <a:rPr lang="fr-FR" sz="1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endParaRPr lang="fr-FR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orme automatique 2">
            <a:extLst>
              <a:ext uri="{FF2B5EF4-FFF2-40B4-BE49-F238E27FC236}">
                <a16:creationId xmlns:a16="http://schemas.microsoft.com/office/drawing/2014/main" id="{F6BD1D83-CC95-44CA-A4FA-DAD8D95903A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70922" y="7090967"/>
            <a:ext cx="417828" cy="4761132"/>
          </a:xfrm>
          <a:prstGeom prst="roundRect">
            <a:avLst>
              <a:gd name="adj" fmla="val 13032"/>
            </a:avLst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/>
            <a:r>
              <a:rPr lang="fr-FR" sz="1400" b="1" cap="all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RUE LARGE -68790 - MORSCHWILLER-LE-BAS</a:t>
            </a:r>
            <a:endParaRPr lang="fr-FR" sz="1000" dirty="0">
              <a:effectLst/>
              <a:latin typeface="Helvetica 55 Roman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C4118DE-9682-6DD3-A743-50F8201F9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936635"/>
              </p:ext>
            </p:extLst>
          </p:nvPr>
        </p:nvGraphicFramePr>
        <p:xfrm>
          <a:off x="370839" y="135377"/>
          <a:ext cx="6837681" cy="64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2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3251199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813561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64693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br>
                        <a:rPr lang="fr-FR" sz="20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APD HTL                                               BTS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38E8D91F-A0AA-F081-2FD6-ED489C0D3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2" y="135377"/>
            <a:ext cx="1564417" cy="64693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DF88FB6-754F-B5DE-E960-B43D7BE91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3538" y="180661"/>
            <a:ext cx="1698429" cy="555914"/>
          </a:xfrm>
          <a:prstGeom prst="rect">
            <a:avLst/>
          </a:prstGeom>
        </p:spPr>
      </p:pic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4401D361-C216-C173-32A7-0A22675A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48637"/>
              </p:ext>
            </p:extLst>
          </p:nvPr>
        </p:nvGraphicFramePr>
        <p:xfrm>
          <a:off x="360996" y="9893807"/>
          <a:ext cx="683768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80692043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417828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Version du document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Code projet du site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endParaRPr lang="fr-FR" sz="110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Fait par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Date de réalisation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Le </a:t>
                      </a:r>
                      <a:fld id="{49EFD17D-A6EC-4EBE-A782-83454D160E57}" type="datetime1">
                        <a:rPr lang="fr-FR" sz="1100" smtClean="0">
                          <a:solidFill>
                            <a:schemeClr val="tx1"/>
                          </a:solidFill>
                        </a:rPr>
                        <a:t>29/06/2026</a:t>
                      </a:fld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0A97F77-9974-5248-0A40-CF158C36105D}"/>
              </a:ext>
            </a:extLst>
          </p:cNvPr>
          <p:cNvSpPr txBox="1"/>
          <p:nvPr/>
        </p:nvSpPr>
        <p:spPr>
          <a:xfrm>
            <a:off x="8579040" y="5480356"/>
            <a:ext cx="331622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b="1" i="1" dirty="0">
                <a:solidFill>
                  <a:schemeClr val="tx1"/>
                </a:solidFill>
              </a:rPr>
              <a:t>Plan général du projet APS/APD_GENERAL_PORTRAIT ou APS/APD_GENERAL_PAYSAGE </a:t>
            </a:r>
            <a:endParaRPr lang="fr-FR" sz="1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63FD1BD-164D-6D19-86C0-844439569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38" y="2665411"/>
            <a:ext cx="6837681" cy="536099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BA65B9A-2319-FD67-F3F6-906DA2BEB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38" y="2676047"/>
            <a:ext cx="6837681" cy="533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80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C148DCF-1A1C-BE2D-A738-C3766BBD1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65188"/>
              </p:ext>
            </p:extLst>
          </p:nvPr>
        </p:nvGraphicFramePr>
        <p:xfrm>
          <a:off x="370839" y="135377"/>
          <a:ext cx="6837681" cy="64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2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3251199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813561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64693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br>
                        <a:rPr lang="fr-FR" sz="20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APD HTL                                               BTS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9902E2A5-0ADF-2AF4-9456-BAADD7C12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2" y="135377"/>
            <a:ext cx="1564417" cy="64693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7D024B4-83A6-5899-5F1D-2EEE423C6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3538" y="180661"/>
            <a:ext cx="1698429" cy="555914"/>
          </a:xfrm>
          <a:prstGeom prst="rect">
            <a:avLst/>
          </a:prstGeom>
        </p:spPr>
      </p:pic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21C72C7-3C19-114D-9E20-40D3E0719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06556"/>
              </p:ext>
            </p:extLst>
          </p:nvPr>
        </p:nvGraphicFramePr>
        <p:xfrm>
          <a:off x="360996" y="9893807"/>
          <a:ext cx="683768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80692043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417828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Version du document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Code projet du site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endParaRPr lang="fr-FR" sz="110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Fait par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Date de réalisation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Le </a:t>
                      </a:r>
                      <a:fld id="{49EFD17D-A6EC-4EBE-A782-83454D160E57}" type="datetime1">
                        <a:rPr lang="fr-FR" sz="1100" smtClean="0">
                          <a:solidFill>
                            <a:schemeClr val="tx1"/>
                          </a:solidFill>
                        </a:rPr>
                        <a:t>29/06/2026</a:t>
                      </a:fld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D9AB00D4-8472-0277-0B81-62901B6EE517}"/>
              </a:ext>
            </a:extLst>
          </p:cNvPr>
          <p:cNvSpPr txBox="1"/>
          <p:nvPr/>
        </p:nvSpPr>
        <p:spPr>
          <a:xfrm>
            <a:off x="360996" y="1270357"/>
            <a:ext cx="6837681" cy="997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Caractéristiques de la liaison :</a:t>
            </a:r>
          </a:p>
          <a:p>
            <a:endParaRPr lang="fr-FR" u="sng" dirty="0"/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Réseaux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Souterrain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05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BLO : 767ml + 14 chambres traversés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Réseaux Tiers (PRIVE) : 73ml + 1 chambre traversée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GC : 32ml + 1 chambres traversée(s)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400" dirty="0"/>
              <a:t>TOTAL réseaux souterrain : 872ml </a:t>
            </a:r>
            <a:br>
              <a:rPr lang="fr-FR" sz="1400" dirty="0"/>
            </a:br>
            <a:r>
              <a:rPr lang="fr-FR" sz="1400" dirty="0"/>
              <a:t>            TOTAL réseaux souterrain + love manchon : 1045ml</a:t>
            </a: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b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Réseaux Aériens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AERIEN ORANGE : 151ml + 6 appuis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AERIEN ENEDIS : ml + nbr appui(s)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AERIEN FREE : ml + </a:t>
            </a:r>
            <a:r>
              <a:rPr lang="en-US" sz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nbr</a:t>
            </a: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appui</a:t>
            </a: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AERIEN TIERS (préciser propriétaire) : ml + nbr appui(s)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TOTAL réseaux aériens : 151ml + 6 appuis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FR" sz="1400" dirty="0"/>
              <a:t>TOTAL réseaux </a:t>
            </a: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aériens</a:t>
            </a:r>
            <a:r>
              <a:rPr lang="fr-FR" sz="1400" dirty="0"/>
              <a:t> + love manchon : 243ml</a:t>
            </a: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fr-FR" sz="1400" dirty="0"/>
              <a:t>Nombre d’appuis à remplacer : 3</a:t>
            </a:r>
            <a:endParaRPr lang="fr-FR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Boites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Nombre de boite FREE OFDC :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Nombre de boite FREE TENIO :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Nombre de boite FREE 3M T0 : 4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Nombre de boite FREE 3M T1 :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>
              <a:lnSpc>
                <a:spcPct val="115000"/>
              </a:lnSpc>
            </a:pPr>
            <a:r>
              <a:rPr lang="fr-FR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TOTAL boites : 4</a:t>
            </a:r>
            <a:endParaRPr lang="fr-FR" sz="105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400" dirty="0">
                <a:effectLst/>
                <a:latin typeface="Helvetica 55 Roman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800" dirty="0">
                <a:effectLst/>
                <a:latin typeface="Helvetica 55 Roman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fr-FR" sz="1800" u="sng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Informations remarquables :</a:t>
            </a:r>
            <a:endParaRPr lang="fr-FR" sz="1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fr-FR" sz="1800" b="1" u="none" strike="noStrike" dirty="0">
                <a:effectLst/>
                <a:latin typeface="Helvetica 55 Roman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1800" dirty="0">
              <a:effectLst/>
              <a:latin typeface="Helvetica 55 Roma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u="sng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0E94B5-B4B1-91A2-6CC1-1687164F21C5}"/>
              </a:ext>
            </a:extLst>
          </p:cNvPr>
          <p:cNvSpPr txBox="1"/>
          <p:nvPr/>
        </p:nvSpPr>
        <p:spPr>
          <a:xfrm>
            <a:off x="7740474" y="2472552"/>
            <a:ext cx="5511323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tx1"/>
                </a:solidFill>
              </a:rPr>
              <a:t>Caractéristiques de liaison :</a:t>
            </a:r>
          </a:p>
          <a:p>
            <a:r>
              <a:rPr lang="fr-FR" sz="1400" dirty="0"/>
              <a:t>= Longueurs issues de QGIS sans compter de love </a:t>
            </a:r>
            <a:endParaRPr lang="fr-FR" sz="1400" dirty="0">
              <a:solidFill>
                <a:schemeClr val="tx1"/>
              </a:solidFill>
            </a:endParaRPr>
          </a:p>
          <a:p>
            <a:endParaRPr lang="fr-FR" sz="1400" dirty="0"/>
          </a:p>
          <a:p>
            <a:r>
              <a:rPr lang="fr-FR" sz="1400" dirty="0"/>
              <a:t>TOTAL réseaux souterrain : </a:t>
            </a:r>
            <a:r>
              <a:rPr lang="fr-FR" sz="1400" dirty="0">
                <a:sym typeface="Wingdings" panose="05000000000000000000" pitchFamily="2" charset="2"/>
              </a:rPr>
              <a:t> faire en sorte que la valeur soit arrondi au multiple supérieur 5 même si cela ne correspond plus au total exact des lignes au dessus.</a:t>
            </a:r>
          </a:p>
          <a:p>
            <a:r>
              <a:rPr lang="fr-FR" sz="1400" dirty="0">
                <a:sym typeface="Wingdings" panose="05000000000000000000" pitchFamily="2" charset="2"/>
              </a:rPr>
              <a:t>exemple : total des lignes au dessus = 1612ml alors arrondir à 1615ml</a:t>
            </a:r>
          </a:p>
          <a:p>
            <a:r>
              <a:rPr lang="fr-FR" sz="1400" dirty="0">
                <a:sym typeface="Wingdings" panose="05000000000000000000" pitchFamily="2" charset="2"/>
              </a:rPr>
              <a:t>Ou total des lignes au dessus = 1609ml alors arrondir à 1610ml </a:t>
            </a:r>
            <a:endParaRPr lang="fr-FR" sz="1400" dirty="0"/>
          </a:p>
          <a:p>
            <a:endParaRPr lang="fr-FR" sz="1400" dirty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74752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C93B434-FB52-4C8B-9D51-41ACDA0D7181}"/>
              </a:ext>
            </a:extLst>
          </p:cNvPr>
          <p:cNvSpPr txBox="1"/>
          <p:nvPr/>
        </p:nvSpPr>
        <p:spPr>
          <a:xfrm>
            <a:off x="681514" y="1050835"/>
            <a:ext cx="621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PLAN DE MASSE DU BATIMENT ou PLAN RESEAUX FREE MOBILE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5CAAFBF3-1211-1351-A35C-D5429CD22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71042"/>
              </p:ext>
            </p:extLst>
          </p:nvPr>
        </p:nvGraphicFramePr>
        <p:xfrm>
          <a:off x="370839" y="135377"/>
          <a:ext cx="6837681" cy="64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2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3251199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813561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64693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br>
                        <a:rPr lang="fr-FR" sz="20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APD HTL                                               BTS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98FC82EF-2260-69DD-9C05-64A5540B6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2" y="135377"/>
            <a:ext cx="1564417" cy="64693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0310DFF-2823-DCDF-6CB9-136440460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3538" y="180661"/>
            <a:ext cx="1698429" cy="555914"/>
          </a:xfrm>
          <a:prstGeom prst="rect">
            <a:avLst/>
          </a:prstGeom>
        </p:spPr>
      </p:pic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FBE7995-1BC8-2813-58EA-4F86FEB55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27101"/>
              </p:ext>
            </p:extLst>
          </p:nvPr>
        </p:nvGraphicFramePr>
        <p:xfrm>
          <a:off x="360996" y="9893807"/>
          <a:ext cx="683768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80692043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417828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Version du document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Code projet du site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endParaRPr lang="fr-FR" sz="110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Fait par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Date de réalisation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Le </a:t>
                      </a:r>
                      <a:fld id="{49EFD17D-A6EC-4EBE-A782-83454D160E57}" type="datetime1">
                        <a:rPr lang="fr-FR" sz="1100" smtClean="0">
                          <a:solidFill>
                            <a:schemeClr val="tx1"/>
                          </a:solidFill>
                        </a:rPr>
                        <a:t>29/06/2026</a:t>
                      </a:fld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4D65A65B-BA28-B8F1-DF89-27FA89A8F1A9}"/>
              </a:ext>
            </a:extLst>
          </p:cNvPr>
          <p:cNvSpPr txBox="1"/>
          <p:nvPr/>
        </p:nvSpPr>
        <p:spPr>
          <a:xfrm>
            <a:off x="8136367" y="3713355"/>
            <a:ext cx="2729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SI TYPE PROJET = BTS</a:t>
            </a:r>
          </a:p>
          <a:p>
            <a:r>
              <a:rPr lang="fr-FR" dirty="0">
                <a:solidFill>
                  <a:srgbClr val="FF0000"/>
                </a:solidFill>
              </a:rPr>
              <a:t>SINON SUPPR CETTE PAGE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77A357-7D81-ABDF-7802-359BFE55C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14" y="1560216"/>
            <a:ext cx="6307030" cy="808076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D8A1C31-CE9B-1669-12FC-C721C9999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15" y="1560215"/>
            <a:ext cx="6307029" cy="803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2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BE569943-57D9-D2A2-1F4D-3A3EC9091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053387"/>
              </p:ext>
            </p:extLst>
          </p:nvPr>
        </p:nvGraphicFramePr>
        <p:xfrm>
          <a:off x="370839" y="135377"/>
          <a:ext cx="6837681" cy="646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2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3251199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813561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64693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br>
                        <a:rPr lang="fr-FR" sz="2000" dirty="0">
                          <a:solidFill>
                            <a:schemeClr val="tx1"/>
                          </a:solidFill>
                        </a:rPr>
                      </a:b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APD HTL                                               BTS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pic>
        <p:nvPicPr>
          <p:cNvPr id="11" name="Image 10">
            <a:extLst>
              <a:ext uri="{FF2B5EF4-FFF2-40B4-BE49-F238E27FC236}">
                <a16:creationId xmlns:a16="http://schemas.microsoft.com/office/drawing/2014/main" id="{A5536DCC-1918-52B4-2F7D-D9A3FBBC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22" y="135377"/>
            <a:ext cx="1564417" cy="64693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5AD7BD3-C1AF-A650-5009-905907EDC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3538" y="180661"/>
            <a:ext cx="1698429" cy="555914"/>
          </a:xfrm>
          <a:prstGeom prst="rect">
            <a:avLst/>
          </a:prstGeom>
        </p:spPr>
      </p:pic>
      <p:graphicFrame>
        <p:nvGraphicFramePr>
          <p:cNvPr id="6" name="Tableau 4">
            <a:extLst>
              <a:ext uri="{FF2B5EF4-FFF2-40B4-BE49-F238E27FC236}">
                <a16:creationId xmlns:a16="http://schemas.microsoft.com/office/drawing/2014/main" id="{561432E0-89DF-05DC-2DD9-0B17CCB77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027506"/>
              </p:ext>
            </p:extLst>
          </p:nvPr>
        </p:nvGraphicFramePr>
        <p:xfrm>
          <a:off x="360996" y="9893807"/>
          <a:ext cx="683768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1">
                  <a:extLst>
                    <a:ext uri="{9D8B030D-6E8A-4147-A177-3AD203B41FA5}">
                      <a16:colId xmlns:a16="http://schemas.microsoft.com/office/drawing/2014/main" val="2312971762"/>
                    </a:ext>
                  </a:extLst>
                </a:gridCol>
                <a:gridCol w="1894840">
                  <a:extLst>
                    <a:ext uri="{9D8B030D-6E8A-4147-A177-3AD203B41FA5}">
                      <a16:colId xmlns:a16="http://schemas.microsoft.com/office/drawing/2014/main" val="80692043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3138607150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1645675359"/>
                    </a:ext>
                  </a:extLst>
                </a:gridCol>
              </a:tblGrid>
              <a:tr h="417828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Version du document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V1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Code projet du site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68218_005_01</a:t>
                      </a:r>
                      <a:endParaRPr lang="fr-FR" sz="1100" cap="all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Fait par :</a:t>
                      </a:r>
                    </a:p>
                    <a:p>
                      <a:pPr algn="l"/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Date de réalisation :</a:t>
                      </a:r>
                    </a:p>
                    <a:p>
                      <a:r>
                        <a:rPr lang="fr-FR" sz="1100" dirty="0">
                          <a:solidFill>
                            <a:schemeClr val="tx1"/>
                          </a:solidFill>
                        </a:rPr>
                        <a:t>Le </a:t>
                      </a:r>
                      <a:fld id="{49EFD17D-A6EC-4EBE-A782-83454D160E57}" type="datetime1">
                        <a:rPr lang="fr-FR" sz="1100" smtClean="0">
                          <a:solidFill>
                            <a:schemeClr val="tx1"/>
                          </a:solidFill>
                        </a:rPr>
                        <a:t>29/06/2026</a:t>
                      </a:fld>
                      <a:endParaRPr lang="fr-FR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799083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BB281E8-8B37-2376-0121-65D629B41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91083"/>
              </p:ext>
            </p:extLst>
          </p:nvPr>
        </p:nvGraphicFramePr>
        <p:xfrm>
          <a:off x="370838" y="1029151"/>
          <a:ext cx="2423161" cy="78486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23161">
                  <a:extLst>
                    <a:ext uri="{9D8B030D-6E8A-4147-A177-3AD203B41FA5}">
                      <a16:colId xmlns:a16="http://schemas.microsoft.com/office/drawing/2014/main" val="68706780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l">
                        <a:tabLst>
                          <a:tab pos="449580" algn="l"/>
                        </a:tabLst>
                      </a:pPr>
                      <a:r>
                        <a:rPr lang="fr-FR" sz="900" b="1" i="1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PDB_ARC68_001_FM029</a:t>
                      </a:r>
                      <a:endParaRPr lang="fr-FR" sz="100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B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09567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Adresse : RUE DE L EGLISE</a:t>
                      </a:r>
                      <a:r>
                        <a:rPr lang="fr-FR" sz="1000" dirty="0">
                          <a:solidFill>
                            <a:srgbClr val="000000"/>
                          </a:solidFill>
                          <a:effectLst/>
                          <a:latin typeface="Helvetica 55 Roman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fr-FR" sz="100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fr-FR" sz="1000" dirty="0">
                          <a:effectLst/>
                          <a:latin typeface="Helvetica 55 Roman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68790 MORSCHWILLER-LE-BAS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0526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N° de la chambre/appui:</a:t>
                      </a:r>
                      <a:r>
                        <a:rPr lang="fr-FR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FT_68218_5</a:t>
                      </a:r>
                      <a:endParaRPr lang="fr-FR" sz="1000" b="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Type de boîte :</a:t>
                      </a:r>
                      <a:r>
                        <a:rPr lang="fr-FR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3M T0 - MFO13280-1</a:t>
                      </a:r>
                      <a:endParaRPr lang="fr-FR" sz="1000" b="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05825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75BDAFD-DCD4-DACD-AAFB-D057C616CD56}"/>
              </a:ext>
            </a:extLst>
          </p:cNvPr>
          <p:cNvSpPr txBox="1"/>
          <p:nvPr/>
        </p:nvSpPr>
        <p:spPr>
          <a:xfrm>
            <a:off x="8157009" y="5846116"/>
            <a:ext cx="331622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b="1" i="1" dirty="0">
                <a:solidFill>
                  <a:schemeClr val="tx1"/>
                </a:solidFill>
              </a:rPr>
              <a:t>Page des « vignettes » ou « encarts » des BPE à POSER</a:t>
            </a:r>
            <a:endParaRPr lang="fr-FR" sz="1400" dirty="0"/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7B404D6C-3292-8AF9-11B1-90C8AFCBD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4686"/>
              </p:ext>
            </p:extLst>
          </p:nvPr>
        </p:nvGraphicFramePr>
        <p:xfrm>
          <a:off x="370838" y="1981651"/>
          <a:ext cx="2423161" cy="90678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23161">
                  <a:extLst>
                    <a:ext uri="{9D8B030D-6E8A-4147-A177-3AD203B41FA5}">
                      <a16:colId xmlns:a16="http://schemas.microsoft.com/office/drawing/2014/main" val="68706780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l">
                        <a:tabLst>
                          <a:tab pos="449580" algn="l"/>
                        </a:tabLst>
                      </a:pPr>
                      <a:r>
                        <a:rPr lang="fr-FR" sz="900" b="1" i="1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PDB_ARC68_001_FM028</a:t>
                      </a:r>
                      <a:endParaRPr lang="fr-FR" sz="100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B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09567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Adresse : RUE DE LA PREMIERE ARMEE FRANCAISE</a:t>
                      </a:r>
                      <a:endParaRPr lang="fr-FR" sz="100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fr-FR" sz="1000" dirty="0">
                          <a:effectLst/>
                          <a:latin typeface="Helvetica 55 Roman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68790 MORSCHWILLER-LE-BAS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0526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N° de la chambre/appui: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FT_68218_14</a:t>
                      </a:r>
                      <a:b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</a:b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Type de boîte :</a:t>
                      </a:r>
                      <a:r>
                        <a:rPr lang="fr-FR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3M T0 - MFO13280-1</a:t>
                      </a:r>
                      <a:endParaRPr lang="fr-FR" sz="1000" b="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05825"/>
                  </a:ext>
                </a:extLst>
              </a:tr>
            </a:tbl>
          </a:graphicData>
        </a:graphic>
      </p:graphicFrame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9965D3EB-D9E0-12AD-E2A3-76FE1E573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715371"/>
              </p:ext>
            </p:extLst>
          </p:nvPr>
        </p:nvGraphicFramePr>
        <p:xfrm>
          <a:off x="370838" y="3056071"/>
          <a:ext cx="2423161" cy="7696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423161">
                  <a:extLst>
                    <a:ext uri="{9D8B030D-6E8A-4147-A177-3AD203B41FA5}">
                      <a16:colId xmlns:a16="http://schemas.microsoft.com/office/drawing/2014/main" val="687067807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l">
                        <a:tabLst>
                          <a:tab pos="449580" algn="l"/>
                        </a:tabLst>
                      </a:pPr>
                      <a:r>
                        <a:rPr lang="fr-FR" sz="900" b="1" i="1" dirty="0"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PDB_ARC68_001_FM027</a:t>
                      </a:r>
                      <a:endParaRPr lang="fr-FR" sz="100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B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09567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Adresse : RUE LARGE </a:t>
                      </a:r>
                      <a:b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</a:br>
                      <a:r>
                        <a:rPr lang="fr-FR" sz="1000" dirty="0">
                          <a:effectLst/>
                          <a:latin typeface="Helvetica 55 Roman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68790 MORSCHWILLER-LE-BAS</a:t>
                      </a: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0526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N° de la chambre/appui: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FT_68218_18</a:t>
                      </a:r>
                      <a:b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</a:br>
                      <a:r>
                        <a:rPr lang="fr-FR" sz="9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Type de boîte :</a:t>
                      </a:r>
                      <a:r>
                        <a:rPr lang="fr-FR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fr-FR" sz="900" b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Verdana" panose="020B0604030504040204" pitchFamily="34" charset="0"/>
                        </a:rPr>
                        <a:t>3M T0 - MFO13280-1</a:t>
                      </a:r>
                      <a:endParaRPr lang="fr-FR" sz="1000" b="0" dirty="0">
                        <a:effectLst/>
                        <a:latin typeface="Helvetica 55 Roma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905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826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rgbClr val="FF0000"/>
          </a:solidFill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 cap="flat" cmpd="sng" algn="ctr">
          <a:solidFill>
            <a:srgbClr val="FF0000"/>
          </a:solidFill>
          <a:prstDash val="dash"/>
          <a:round/>
          <a:headEnd type="none" w="med" len="med"/>
          <a:tailEnd type="arrow" w="med" len="med"/>
        </a:ln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>
            <a:solidFill>
              <a:schemeClr val="tx1"/>
            </a:solidFill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362b09-fb7a-4ffe-b2d8-2cde68c25db3" xsi:nil="true"/>
    <UniqueSourceRef xmlns="a1102ece-9c89-40d2-9a2c-27d9929e8279" xsi:nil="true"/>
    <FileHash xmlns="a1102ece-9c89-40d2-9a2c-27d9929e8279" xsi:nil="true"/>
    <lcf76f155ced4ddcb4097134ff3c332f xmlns="a1102ece-9c89-40d2-9a2c-27d9929e8279">
      <Terms xmlns="http://schemas.microsoft.com/office/infopath/2007/PartnerControls"/>
    </lcf76f155ced4ddcb4097134ff3c332f>
    <CloudMigratorOriginId xmlns="a1102ece-9c89-40d2-9a2c-27d9929e8279" xsi:nil="true"/>
    <CloudMigratorVersion xmlns="a1102ece-9c89-40d2-9a2c-27d9929e827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0ACF7CF757DC4094EE3C8029BBFF87" ma:contentTypeVersion="18" ma:contentTypeDescription="Crée un document." ma:contentTypeScope="" ma:versionID="002fbc6d831983ecd3d1dcc8f4416060">
  <xsd:schema xmlns:xsd="http://www.w3.org/2001/XMLSchema" xmlns:xs="http://www.w3.org/2001/XMLSchema" xmlns:p="http://schemas.microsoft.com/office/2006/metadata/properties" xmlns:ns2="a1102ece-9c89-40d2-9a2c-27d9929e8279" xmlns:ns3="3d362b09-fb7a-4ffe-b2d8-2cde68c25db3" targetNamespace="http://schemas.microsoft.com/office/2006/metadata/properties" ma:root="true" ma:fieldsID="984cb845b8c01eb493c2894b0af26017" ns2:_="" ns3:_="">
    <xsd:import namespace="a1102ece-9c89-40d2-9a2c-27d9929e8279"/>
    <xsd:import namespace="3d362b09-fb7a-4ffe-b2d8-2cde68c25db3"/>
    <xsd:element name="properties">
      <xsd:complexType>
        <xsd:sequence>
          <xsd:element name="documentManagement">
            <xsd:complexType>
              <xsd:all>
                <xsd:element ref="ns2:CloudMigratorOriginId" minOccurs="0"/>
                <xsd:element ref="ns2:FileHash" minOccurs="0"/>
                <xsd:element ref="ns2:CloudMigratorVersion" minOccurs="0"/>
                <xsd:element ref="ns2:UniqueSource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02ece-9c89-40d2-9a2c-27d9929e8279" elementFormDefault="qualified">
    <xsd:import namespace="http://schemas.microsoft.com/office/2006/documentManagement/types"/>
    <xsd:import namespace="http://schemas.microsoft.com/office/infopath/2007/PartnerControls"/>
    <xsd:element name="CloudMigratorOriginId" ma:index="8" nillable="true" ma:displayName="CloudMigratorOriginId" ma:description="" ma:internalName="CloudMigratorOriginId">
      <xsd:simpleType>
        <xsd:restriction base="dms:Note">
          <xsd:maxLength value="255"/>
        </xsd:restriction>
      </xsd:simpleType>
    </xsd:element>
    <xsd:element name="FileHash" ma:index="9" nillable="true" ma:displayName="FileHash" ma:description="" ma:internalName="FileHash">
      <xsd:simpleType>
        <xsd:restriction base="dms:Note">
          <xsd:maxLength value="255"/>
        </xsd:restriction>
      </xsd:simpleType>
    </xsd:element>
    <xsd:element name="CloudMigratorVersion" ma:index="10" nillable="true" ma:displayName="CloudMigratorVersion" ma:description="" ma:internalName="CloudMigratorVersion">
      <xsd:simpleType>
        <xsd:restriction base="dms:Note">
          <xsd:maxLength value="255"/>
        </xsd:restriction>
      </xsd:simpleType>
    </xsd:element>
    <xsd:element name="UniqueSourceRef" ma:index="11" nillable="true" ma:displayName="UniqueSourceRef" ma:description="" ma:internalName="UniqueSourceRef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59cf8ae5-f3d2-4649-a1b0-e98408d2ff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62b09-fb7a-4ffe-b2d8-2cde68c25db3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d37b8ad1-b335-4a8e-bbdc-ba877b317637}" ma:internalName="TaxCatchAll" ma:showField="CatchAllData" ma:web="3d362b09-fb7a-4ffe-b2d8-2cde68c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67DDBD-C8C3-4C6C-B8CF-000F584D9767}">
  <ds:schemaRefs>
    <ds:schemaRef ds:uri="http://schemas.microsoft.com/office/2006/metadata/properties"/>
    <ds:schemaRef ds:uri="http://schemas.microsoft.com/office/infopath/2007/PartnerControls"/>
    <ds:schemaRef ds:uri="3d362b09-fb7a-4ffe-b2d8-2cde68c25db3"/>
    <ds:schemaRef ds:uri="a1102ece-9c89-40d2-9a2c-27d9929e8279"/>
  </ds:schemaRefs>
</ds:datastoreItem>
</file>

<file path=customXml/itemProps2.xml><?xml version="1.0" encoding="utf-8"?>
<ds:datastoreItem xmlns:ds="http://schemas.openxmlformats.org/officeDocument/2006/customXml" ds:itemID="{CDB1343C-26E4-4A53-A257-1DE7244630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02ece-9c89-40d2-9a2c-27d9929e8279"/>
    <ds:schemaRef ds:uri="3d362b09-fb7a-4ffe-b2d8-2cde68c25d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31E5E3-9000-4CEF-B19B-16B3D6DC87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1785</TotalTime>
  <Words>498</Words>
  <Application>Microsoft Office PowerPoint</Application>
  <PresentationFormat>Personnalisé</PresentationFormat>
  <Paragraphs>93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Calibri Light</vt:lpstr>
      <vt:lpstr>Helvetica 55 Roman</vt:lpstr>
      <vt:lpstr>Times New Roman</vt:lpstr>
      <vt:lpstr>Verdana</vt:lpstr>
      <vt:lpstr>Wingdings</vt:lpstr>
      <vt:lpstr>Thème Office</vt:lpstr>
      <vt:lpstr>1_Thème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TECHNIQUE</dc:title>
  <dc:creator>Emmanuel Corneloup</dc:creator>
  <cp:lastModifiedBy>Ali Benzerfa</cp:lastModifiedBy>
  <cp:revision>94</cp:revision>
  <dcterms:created xsi:type="dcterms:W3CDTF">2022-04-22T11:15:06Z</dcterms:created>
  <dcterms:modified xsi:type="dcterms:W3CDTF">2026-06-29T15:14:08Z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0x0101000F0ACF7CF757DC4094EE3C8029BBFF87</vt:lpwstr>
  </property>
  <property fmtid="{D5CDD505-2E9C-101B-9397-08002B2CF9AE}" pid="3" name="MediaServiceImageTags">
    <vt:lpwstr/>
  </property>
</Properties>
</file>